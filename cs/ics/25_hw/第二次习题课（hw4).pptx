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27884-8BFE-59B2-5E86-575D2E80A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E15710-23D9-F5B6-6FBC-F7C2748F2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59E75B-D603-9C9C-D32E-F55508AF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51922-1B17-60FE-2ACF-E8D5AC6B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0729B2-332C-32D2-F1EE-3251EC9F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101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039BC-DD4A-0887-D1D1-688616C8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B74A97-8A88-9F6A-5613-482D68C3B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330AAA-FFF9-B7B7-95F2-B2FA1666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49AD26-F02F-80C5-E67D-5E7467715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57A1D6-A509-8543-DA17-5CC4A344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81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10476-1DE0-9CA0-5B7B-8D58B80C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7D66E5-1486-E593-ADB2-ED3CCCC8A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6F23DA-0640-CDFB-A1D1-F2959BDC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461F1-59FC-2577-4634-3D8618B4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8E921E-369D-929E-9989-ADF8A274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85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BE5AF-E8F8-400F-2EC1-06DEDDDA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F2BAAF-A14A-BD6A-97DE-B0C6C37F8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B7C3A8-1E7F-A4E2-3CAA-48BFCA5AF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7F8ED9-5EEF-037C-CB13-B3315C49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F07BDF-85EC-7E32-8B79-3403002B6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6E2E00-4EBA-B91C-C678-0B62FCA5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518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268DE-6D73-3F7A-70FD-F369B4E0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4AEAAD-EFAA-3B61-A49C-0DF9D0903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488F80-7B6B-6708-46B7-BD2BC2126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1AE241-51A2-0EF9-25C0-66E815722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146196-18B9-19C9-AB19-F0BC9E95F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6C2472-FF14-43C1-8A51-79EC3CD30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36798A-11C1-D5C3-9223-5753935F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AE7871-FC58-2B3E-0EA6-5A352F5D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89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85567-1F4F-E884-96C6-1DD94931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3BA876-8904-F06D-AD69-7284384CE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BB3A59-ABF1-C8E1-1086-08995C59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42A36B-53FD-2762-2CD7-3ED63B3F1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63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ADA1DB-40F6-3590-6F64-E7A1125A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EB7EF6-6218-2D1B-B484-D940F493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0ECB1E-9A71-0A0D-5467-974672AD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71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95D41-C322-48DD-38B5-9AF3CA1B6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FB47A-D87A-298C-8506-EA80EE58C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66D431-13F5-9403-8F06-ADDDD2467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472E92-240F-4951-207C-132A8147D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5FEF3B-2C01-A0D9-0569-DE9A1693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CA0EE1-C229-EC09-CD7E-ECC207D8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736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8EFF6-E8A9-3FAB-C80E-29FC13B02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BC79A6-73F0-F180-22CF-DC7DEFA1B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BBEBB4-F75E-BECF-A9A4-D90D35DCC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6C4C11-1A13-D267-F690-5C1EAF78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0232FF-57EF-E97F-F8F8-98247FB8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F75368-BAC0-65A1-0D9B-64294634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68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B0011-5F94-F52B-B5C4-AF8361F4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A2381F-AE46-A31A-011E-3FE1A53D1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AC46B-A677-6E22-9FF4-86426F1F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DE2752-A6A5-BF8A-831D-2A796C27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84BEB-9AE8-E0EA-0A3D-F760E3E5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595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13BC18-6658-AE17-A3B5-36F4B5EC2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F06E8A-387B-9097-1DC0-F3B21CA6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1197EE-66AD-CDA5-082B-AFEA19E2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50C554-C1F9-9609-60D6-586D4A01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8B167-0B7E-B992-B01D-4DDDEC1D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21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D23A7E-A01D-49C0-B50A-06DC83E1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2BB435-C158-8235-912C-5E31EE4D1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BC1421-42F4-F93C-407A-D9BAFF9DF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E77F4-F148-4520-919B-73ACD6CC13FD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E92A5B-6CC7-6912-B25B-4BC132005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D9256-9E54-E888-8DF7-02AC64FBD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F1D2C-EE7E-4237-981D-101484EDF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11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22EF5-ADC1-CF1F-4FA7-F82AD2F65D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第二次习题课（</a:t>
            </a:r>
            <a:r>
              <a:rPr lang="en-US" altLang="zh-CN" dirty="0"/>
              <a:t>hw4</a:t>
            </a:r>
            <a:r>
              <a:rPr lang="zh-CN" altLang="en-US" dirty="0"/>
              <a:t>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D766C8-56C6-41AB-61FC-E5FEAED0D0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                                                                                    by </a:t>
            </a:r>
            <a:r>
              <a:rPr lang="zh-CN" altLang="en-US" dirty="0"/>
              <a:t>殷一鸣</a:t>
            </a:r>
          </a:p>
        </p:txBody>
      </p:sp>
    </p:spTree>
    <p:extLst>
      <p:ext uri="{BB962C8B-B14F-4D97-AF65-F5344CB8AC3E}">
        <p14:creationId xmlns:p14="http://schemas.microsoft.com/office/powerpoint/2010/main" val="1322146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D9A7BA-FEB3-7268-51E2-7B5BEFEEF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85" y="819303"/>
            <a:ext cx="7184337" cy="15237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03B102E-B807-7BA3-12FC-EF9600921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04" y="3089823"/>
            <a:ext cx="8298053" cy="203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7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4B9A48E-9177-9DE5-2582-040F9A725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570" y="454438"/>
            <a:ext cx="8589848" cy="204736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7344AEB-D9A5-7DCC-4471-2A705E5D5CC2}"/>
              </a:ext>
            </a:extLst>
          </p:cNvPr>
          <p:cNvSpPr txBox="1"/>
          <p:nvPr/>
        </p:nvSpPr>
        <p:spPr>
          <a:xfrm>
            <a:off x="1302106" y="3233318"/>
            <a:ext cx="9005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同</a:t>
            </a:r>
            <a:r>
              <a:rPr lang="en-US" altLang="zh-CN" dirty="0"/>
              <a:t>HW3</a:t>
            </a:r>
            <a:r>
              <a:rPr lang="zh-CN" altLang="en-US" dirty="0"/>
              <a:t>中的“空指令”，考验大家摸鱼的能力。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F46F430-8F4A-3ADA-B375-B52776277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570" y="3955325"/>
            <a:ext cx="7553154" cy="188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8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79971DE9-6EEF-19C7-E6A6-CA3F151B0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98" y="3249743"/>
            <a:ext cx="7975725" cy="23024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D208900-755D-2453-3F5A-8530B8DDC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98" y="724205"/>
            <a:ext cx="7593265" cy="264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1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CF3CB83-870E-ACA9-DC29-D5DD4C542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70" y="3642592"/>
            <a:ext cx="7273498" cy="27399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6B05268-9A95-48D3-192A-A572708437D8}"/>
              </a:ext>
            </a:extLst>
          </p:cNvPr>
          <p:cNvSpPr txBox="1"/>
          <p:nvPr/>
        </p:nvSpPr>
        <p:spPr>
          <a:xfrm>
            <a:off x="667599" y="475488"/>
            <a:ext cx="10466136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LDR </a:t>
            </a:r>
            <a:r>
              <a:rPr lang="zh-CN" altLang="en-US" b="1" dirty="0"/>
              <a:t>（</a:t>
            </a:r>
            <a:r>
              <a:rPr lang="en-US" altLang="zh-CN" b="1" dirty="0"/>
              <a:t>Load Register</a:t>
            </a:r>
            <a:r>
              <a:rPr lang="zh-CN" altLang="en-US" b="1" dirty="0"/>
              <a:t>，直接寻址加载）：</a:t>
            </a:r>
            <a:r>
              <a:rPr lang="en-US" altLang="zh-CN" b="1" dirty="0"/>
              <a:t>	</a:t>
            </a:r>
          </a:p>
          <a:p>
            <a:r>
              <a:rPr lang="zh-CN" altLang="en-US" sz="1600" dirty="0"/>
              <a:t>仅在 </a:t>
            </a:r>
            <a:r>
              <a:rPr lang="en-US" altLang="zh-CN" sz="1600" dirty="0"/>
              <a:t>CPU </a:t>
            </a:r>
            <a:r>
              <a:rPr lang="zh-CN" altLang="en-US" sz="1600" dirty="0"/>
              <a:t>内部完成，不涉及额外内存访问：有效地址（</a:t>
            </a:r>
            <a:r>
              <a:rPr lang="en-US" altLang="zh-CN" sz="1600" dirty="0"/>
              <a:t>EA</a:t>
            </a:r>
            <a:r>
              <a:rPr lang="zh-CN" altLang="en-US" sz="1600" dirty="0"/>
              <a:t>） </a:t>
            </a:r>
            <a:r>
              <a:rPr lang="en-US" altLang="zh-CN" sz="1600" dirty="0"/>
              <a:t>= SR1</a:t>
            </a:r>
            <a:r>
              <a:rPr lang="zh-CN" altLang="en-US" sz="1600" dirty="0"/>
              <a:t>（基址寄存器的值） </a:t>
            </a:r>
            <a:r>
              <a:rPr lang="en-US" altLang="zh-CN" sz="1600" dirty="0"/>
              <a:t>+ </a:t>
            </a:r>
            <a:r>
              <a:rPr lang="zh-CN" altLang="en-US" sz="1600" dirty="0"/>
              <a:t>符号扩展后的</a:t>
            </a:r>
            <a:r>
              <a:rPr lang="en-US" altLang="zh-CN" sz="1600" dirty="0"/>
              <a:t>offset5</a:t>
            </a:r>
            <a:endParaRPr lang="en-US" altLang="zh-CN" sz="1600" b="1" dirty="0"/>
          </a:p>
          <a:p>
            <a:endParaRPr lang="en-US" altLang="zh-CN" b="1" dirty="0"/>
          </a:p>
          <a:p>
            <a:r>
              <a:rPr lang="en-US" altLang="zh-CN" b="1" dirty="0"/>
              <a:t>LDI </a:t>
            </a:r>
            <a:r>
              <a:rPr lang="zh-CN" altLang="en-US" b="1" dirty="0"/>
              <a:t>（</a:t>
            </a:r>
            <a:r>
              <a:rPr lang="en-US" altLang="zh-CN" b="1" dirty="0"/>
              <a:t>Load Indirect</a:t>
            </a:r>
            <a:r>
              <a:rPr lang="zh-CN" altLang="en-US" b="1" dirty="0"/>
              <a:t>，间接寻址加载）：</a:t>
            </a:r>
            <a:endParaRPr lang="en-US" altLang="zh-CN" b="1" dirty="0"/>
          </a:p>
          <a:p>
            <a:r>
              <a:rPr lang="zh-CN" altLang="en-US" sz="1600" dirty="0"/>
              <a:t>第一步（内部计算）：计算间接地址（</a:t>
            </a:r>
            <a:r>
              <a:rPr lang="en-US" altLang="zh-CN" sz="1600" dirty="0"/>
              <a:t>EA1</a:t>
            </a:r>
            <a:r>
              <a:rPr lang="zh-CN" altLang="en-US" sz="1600" dirty="0"/>
              <a:t>） </a:t>
            </a:r>
            <a:r>
              <a:rPr lang="en-US" altLang="zh-CN" sz="1600" dirty="0"/>
              <a:t>= PC + 1 + </a:t>
            </a:r>
            <a:r>
              <a:rPr lang="zh-CN" altLang="en-US" sz="1600" dirty="0"/>
              <a:t>符号扩展后的 </a:t>
            </a:r>
            <a:r>
              <a:rPr lang="en-US" altLang="zh-CN" sz="1600" dirty="0"/>
              <a:t>PCoffset9</a:t>
            </a:r>
            <a:r>
              <a:rPr lang="zh-CN" altLang="en-US" sz="1600" dirty="0"/>
              <a:t>（</a:t>
            </a:r>
            <a:r>
              <a:rPr lang="en-US" altLang="zh-CN" sz="1600" dirty="0"/>
              <a:t>PC+1 </a:t>
            </a:r>
            <a:r>
              <a:rPr lang="zh-CN" altLang="en-US" sz="1600" dirty="0"/>
              <a:t>是因为取指后 </a:t>
            </a:r>
            <a:r>
              <a:rPr lang="en-US" altLang="zh-CN" sz="1600" dirty="0"/>
              <a:t>PC </a:t>
            </a:r>
            <a:r>
              <a:rPr lang="zh-CN" altLang="en-US" sz="1600" dirty="0"/>
              <a:t>已自增）；</a:t>
            </a:r>
          </a:p>
          <a:p>
            <a:r>
              <a:rPr lang="zh-CN" altLang="en-US" sz="1600" dirty="0"/>
              <a:t>第二步（访存获取）：最终有效地址（</a:t>
            </a:r>
            <a:r>
              <a:rPr lang="en-US" altLang="zh-CN" sz="1600" dirty="0"/>
              <a:t>EA2</a:t>
            </a:r>
            <a:r>
              <a:rPr lang="zh-CN" altLang="en-US" sz="1600" dirty="0"/>
              <a:t>） </a:t>
            </a:r>
            <a:r>
              <a:rPr lang="en-US" altLang="zh-CN" sz="1600" dirty="0"/>
              <a:t>= </a:t>
            </a:r>
            <a:r>
              <a:rPr lang="zh-CN" altLang="en-US" sz="1600" dirty="0"/>
              <a:t>从间接地址 </a:t>
            </a:r>
            <a:r>
              <a:rPr lang="en-US" altLang="zh-CN" sz="1600" dirty="0"/>
              <a:t>EA1 </a:t>
            </a:r>
            <a:r>
              <a:rPr lang="zh-CN" altLang="en-US" sz="1600" dirty="0"/>
              <a:t>对应的内存中读取的值（这是 “地址的地址”）；</a:t>
            </a:r>
          </a:p>
          <a:p>
            <a:r>
              <a:rPr lang="zh-CN" altLang="en-US" sz="1600" dirty="0"/>
              <a:t>第三步，读取 </a:t>
            </a:r>
            <a:r>
              <a:rPr lang="en-US" altLang="zh-CN" sz="1600" dirty="0"/>
              <a:t>EA2 </a:t>
            </a:r>
            <a:r>
              <a:rPr lang="zh-CN" altLang="en-US" sz="1600" dirty="0"/>
              <a:t>中的数据作为加载值。</a:t>
            </a:r>
          </a:p>
          <a:p>
            <a:endParaRPr lang="en-US" altLang="zh-CN" b="1" dirty="0"/>
          </a:p>
          <a:p>
            <a:r>
              <a:rPr lang="en-US" altLang="zh-CN" b="1" dirty="0"/>
              <a:t>LEA </a:t>
            </a:r>
            <a:r>
              <a:rPr lang="zh-CN" altLang="en-US" b="1" dirty="0"/>
              <a:t>（</a:t>
            </a:r>
            <a:r>
              <a:rPr lang="en-US" altLang="zh-CN" b="1" dirty="0"/>
              <a:t>Load Effective Address</a:t>
            </a:r>
            <a:r>
              <a:rPr lang="zh-CN" altLang="en-US" b="1" dirty="0"/>
              <a:t>，加载有效地址）：</a:t>
            </a:r>
          </a:p>
          <a:p>
            <a:r>
              <a:rPr lang="zh-CN" altLang="en-US" sz="1600" dirty="0"/>
              <a:t>完全在 </a:t>
            </a:r>
            <a:r>
              <a:rPr lang="en-US" altLang="zh-CN" sz="1600" dirty="0"/>
              <a:t>CPU </a:t>
            </a:r>
            <a:r>
              <a:rPr lang="zh-CN" altLang="en-US" sz="1600" dirty="0"/>
              <a:t>内部完成，无任何额外内存访问：有效地址（</a:t>
            </a:r>
            <a:r>
              <a:rPr lang="en-US" altLang="zh-CN" sz="1600" dirty="0"/>
              <a:t>EA</a:t>
            </a:r>
            <a:r>
              <a:rPr lang="zh-CN" altLang="en-US" sz="1600" dirty="0"/>
              <a:t>） </a:t>
            </a:r>
            <a:r>
              <a:rPr lang="en-US" altLang="zh-CN" sz="1600" dirty="0"/>
              <a:t>= PC + 1 + </a:t>
            </a:r>
            <a:r>
              <a:rPr lang="zh-CN" altLang="en-US" sz="1600" dirty="0"/>
              <a:t>符号扩展后的</a:t>
            </a:r>
            <a:r>
              <a:rPr lang="en-US" altLang="zh-CN" sz="1600" dirty="0"/>
              <a:t>PCoffset9</a:t>
            </a:r>
            <a:endParaRPr lang="zh-CN" altLang="en-US" sz="1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547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505D158-A2F1-61F5-67AC-EEE69D2D2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47" y="987552"/>
            <a:ext cx="8736963" cy="357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6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018B5530-3BD3-16B0-4DCF-CB18F14FE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812" y="894276"/>
            <a:ext cx="8162761" cy="1729134"/>
          </a:xfr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4E786CE-7D01-D887-8939-9968B05E78E2}"/>
              </a:ext>
            </a:extLst>
          </p:cNvPr>
          <p:cNvSpPr txBox="1"/>
          <p:nvPr/>
        </p:nvSpPr>
        <p:spPr>
          <a:xfrm>
            <a:off x="1272845" y="2896819"/>
            <a:ext cx="96706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PC </a:t>
            </a:r>
            <a:r>
              <a:rPr lang="zh-CN" altLang="en-US" dirty="0"/>
              <a:t>相对寻址的有效地址核心公式：</a:t>
            </a:r>
            <a:r>
              <a:rPr lang="en-US" altLang="zh-CN" dirty="0"/>
              <a:t>EA = </a:t>
            </a:r>
            <a:r>
              <a:rPr lang="en-US" altLang="zh-CN" dirty="0" err="1"/>
              <a:t>Addr_current</a:t>
            </a:r>
            <a:r>
              <a:rPr lang="en-US" altLang="zh-CN" dirty="0"/>
              <a:t> + 1 + </a:t>
            </a:r>
            <a:r>
              <a:rPr lang="zh-CN" altLang="en-US" dirty="0"/>
              <a:t>符号扩展后的</a:t>
            </a:r>
            <a:r>
              <a:rPr lang="en-US" altLang="zh-CN" dirty="0"/>
              <a:t>9</a:t>
            </a:r>
            <a:r>
              <a:rPr lang="zh-CN" altLang="en-US" dirty="0"/>
              <a:t>位偏移量（以当前指令地址为原点）；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9 </a:t>
            </a:r>
            <a:r>
              <a:rPr lang="zh-CN" altLang="en-US" dirty="0"/>
              <a:t>位有符号偏移量（</a:t>
            </a:r>
            <a:r>
              <a:rPr lang="en-US" altLang="zh-CN" dirty="0"/>
              <a:t>PCoffset9</a:t>
            </a:r>
            <a:r>
              <a:rPr lang="zh-CN" altLang="en-US" dirty="0"/>
              <a:t>）的取值范围：</a:t>
            </a:r>
            <a:r>
              <a:rPr lang="en-US" altLang="zh-CN" dirty="0"/>
              <a:t>[-256, +255]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最终寻址范围（相对于当前指令地址）：</a:t>
            </a:r>
            <a:r>
              <a:rPr lang="en-US" altLang="zh-CN" dirty="0"/>
              <a:t>[</a:t>
            </a:r>
            <a:r>
              <a:rPr lang="en-US" altLang="zh-CN" dirty="0" err="1"/>
              <a:t>Addr_current</a:t>
            </a:r>
            <a:r>
              <a:rPr lang="en-US" altLang="zh-CN" dirty="0"/>
              <a:t> - 255, </a:t>
            </a:r>
            <a:r>
              <a:rPr lang="en-US" altLang="zh-CN" dirty="0" err="1"/>
              <a:t>Addr_current</a:t>
            </a:r>
            <a:r>
              <a:rPr lang="en-US" altLang="zh-CN" dirty="0"/>
              <a:t> + 256]</a:t>
            </a:r>
            <a:r>
              <a:rPr lang="zh-CN" altLang="en-US" dirty="0"/>
              <a:t>（相对偏移：</a:t>
            </a:r>
            <a:r>
              <a:rPr lang="en-US" altLang="zh-CN" dirty="0"/>
              <a:t>-255 ~ +256</a:t>
            </a:r>
            <a:r>
              <a:rPr lang="zh-CN" altLang="en-US" dirty="0"/>
              <a:t>，总空间 </a:t>
            </a:r>
            <a:r>
              <a:rPr lang="en-US" altLang="zh-CN" dirty="0"/>
              <a:t>512 </a:t>
            </a:r>
            <a:r>
              <a:rPr lang="zh-CN" altLang="en-US" dirty="0"/>
              <a:t>个内存单元）；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寻址范围不对称的根源：取指后 </a:t>
            </a:r>
            <a:r>
              <a:rPr lang="en-US" altLang="zh-CN" dirty="0"/>
              <a:t>PC </a:t>
            </a:r>
            <a:r>
              <a:rPr lang="zh-CN" altLang="en-US" dirty="0"/>
              <a:t>自动自增 </a:t>
            </a:r>
            <a:r>
              <a:rPr lang="en-US" altLang="zh-CN" dirty="0"/>
              <a:t>1</a:t>
            </a:r>
            <a:r>
              <a:rPr lang="zh-CN" altLang="en-US" dirty="0"/>
              <a:t>（</a:t>
            </a:r>
            <a:r>
              <a:rPr lang="en-US" altLang="zh-CN" dirty="0" err="1"/>
              <a:t>Addr_current</a:t>
            </a:r>
            <a:r>
              <a:rPr lang="en-US" altLang="zh-CN" dirty="0"/>
              <a:t> + 1</a:t>
            </a:r>
            <a:r>
              <a:rPr lang="zh-CN" altLang="en-US" dirty="0"/>
              <a:t>），导致上下边界偏移量不一致。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519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内容占位符 15">
            <a:extLst>
              <a:ext uri="{FF2B5EF4-FFF2-40B4-BE49-F238E27FC236}">
                <a16:creationId xmlns:a16="http://schemas.microsoft.com/office/drawing/2014/main" id="{B2733C64-0758-6709-8A72-FAC926DEB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75" y="25947"/>
            <a:ext cx="6915505" cy="3988005"/>
          </a:xfr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F6E9914-544E-8914-56E8-E6E988C450FE}"/>
              </a:ext>
            </a:extLst>
          </p:cNvPr>
          <p:cNvSpPr txBox="1"/>
          <p:nvPr/>
        </p:nvSpPr>
        <p:spPr>
          <a:xfrm>
            <a:off x="885138" y="4206240"/>
            <a:ext cx="78199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b="1" dirty="0"/>
              <a:t>x3001 </a:t>
            </a:r>
            <a:r>
              <a:rPr lang="zh-CN" altLang="en-US" b="1" dirty="0"/>
              <a:t>   </a:t>
            </a:r>
            <a:r>
              <a:rPr lang="pt-BR" altLang="zh-CN" b="1" dirty="0"/>
              <a:t>LEA R1, #-3</a:t>
            </a:r>
            <a:r>
              <a:rPr lang="zh-CN" altLang="en-US" b="1" dirty="0"/>
              <a:t>（</a:t>
            </a:r>
            <a:r>
              <a:rPr lang="en-US" altLang="zh-CN" dirty="0"/>
              <a:t>R1 = x2FFF</a:t>
            </a:r>
            <a:r>
              <a:rPr lang="zh-CN" altLang="en-US" b="1" dirty="0"/>
              <a:t>）</a:t>
            </a:r>
            <a:endParaRPr lang="zh-CN" altLang="pt-BR" b="1" dirty="0"/>
          </a:p>
          <a:p>
            <a:r>
              <a:rPr lang="pt-BR" altLang="zh-CN" b="1" dirty="0"/>
              <a:t>x3002 </a:t>
            </a:r>
            <a:r>
              <a:rPr lang="zh-CN" altLang="en-US" b="1" dirty="0"/>
              <a:t>   </a:t>
            </a:r>
            <a:r>
              <a:rPr lang="pt-BR" altLang="zh-CN" b="1" dirty="0"/>
              <a:t>ADD R3, R1, #3 </a:t>
            </a:r>
            <a:r>
              <a:rPr lang="zh-CN" altLang="en-US" b="1" dirty="0"/>
              <a:t>（</a:t>
            </a:r>
            <a:r>
              <a:rPr lang="pt-BR" altLang="zh-CN" dirty="0"/>
              <a:t>R3 = R1 + 3 = x2FFF + 3 = x3002</a:t>
            </a:r>
            <a:r>
              <a:rPr lang="zh-CN" altLang="en-US" b="1" dirty="0"/>
              <a:t>）</a:t>
            </a:r>
            <a:endParaRPr lang="zh-CN" altLang="pt-BR" b="1" dirty="0"/>
          </a:p>
          <a:p>
            <a:r>
              <a:rPr lang="pt-BR" altLang="zh-CN" b="1" dirty="0"/>
              <a:t>x3003 </a:t>
            </a:r>
            <a:r>
              <a:rPr lang="zh-CN" altLang="en-US" b="1" dirty="0"/>
              <a:t>   </a:t>
            </a:r>
            <a:r>
              <a:rPr lang="pt-BR" altLang="zh-CN" b="1" dirty="0"/>
              <a:t>AND R2, R1, R3</a:t>
            </a:r>
            <a:r>
              <a:rPr lang="zh-CN" altLang="en-US" b="1" dirty="0"/>
              <a:t>  （</a:t>
            </a:r>
            <a:r>
              <a:rPr lang="en-US" altLang="zh-CN" dirty="0"/>
              <a:t>R2 = x2002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pt-BR" altLang="zh-CN" b="1" dirty="0">
                <a:solidFill>
                  <a:srgbClr val="FF0000"/>
                </a:solidFill>
              </a:rPr>
              <a:t>x3004 </a:t>
            </a:r>
            <a:r>
              <a:rPr lang="zh-CN" altLang="en-US" b="1" dirty="0">
                <a:solidFill>
                  <a:srgbClr val="FF0000"/>
                </a:solidFill>
              </a:rPr>
              <a:t>   </a:t>
            </a:r>
            <a:r>
              <a:rPr lang="pt-BR" altLang="zh-CN" b="1" dirty="0">
                <a:solidFill>
                  <a:srgbClr val="FF0000"/>
                </a:solidFill>
              </a:rPr>
              <a:t>ST R2, #1</a:t>
            </a:r>
            <a:r>
              <a:rPr lang="zh-CN" altLang="en-US" b="1" dirty="0">
                <a:solidFill>
                  <a:srgbClr val="FF0000"/>
                </a:solidFill>
              </a:rPr>
              <a:t>  （内存 </a:t>
            </a:r>
            <a:r>
              <a:rPr lang="en-US" altLang="zh-CN" b="1" dirty="0">
                <a:solidFill>
                  <a:srgbClr val="FF0000"/>
                </a:solidFill>
              </a:rPr>
              <a:t>x3006 </a:t>
            </a:r>
            <a:r>
              <a:rPr lang="zh-CN" altLang="en-US" b="1" dirty="0">
                <a:solidFill>
                  <a:srgbClr val="FF0000"/>
                </a:solidFill>
              </a:rPr>
              <a:t>的内容被更新为 </a:t>
            </a:r>
            <a:r>
              <a:rPr lang="en-US" altLang="zh-CN" b="1" dirty="0">
                <a:solidFill>
                  <a:srgbClr val="FF0000"/>
                </a:solidFill>
              </a:rPr>
              <a:t>R2 </a:t>
            </a:r>
            <a:r>
              <a:rPr lang="zh-CN" altLang="en-US" b="1" dirty="0">
                <a:solidFill>
                  <a:srgbClr val="FF0000"/>
                </a:solidFill>
              </a:rPr>
              <a:t>的值（</a:t>
            </a:r>
            <a:r>
              <a:rPr lang="en-US" altLang="zh-CN" b="1" dirty="0">
                <a:solidFill>
                  <a:srgbClr val="FF0000"/>
                </a:solidFill>
              </a:rPr>
              <a:t>x2002</a:t>
            </a:r>
            <a:r>
              <a:rPr lang="zh-CN" altLang="en-US" b="1" dirty="0">
                <a:solidFill>
                  <a:srgbClr val="FF0000"/>
                </a:solidFill>
              </a:rPr>
              <a:t>））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pt-BR" altLang="zh-CN" b="1" dirty="0"/>
              <a:t>x3005 </a:t>
            </a:r>
            <a:r>
              <a:rPr lang="zh-CN" altLang="en-US" b="1" dirty="0"/>
              <a:t>   </a:t>
            </a:r>
            <a:r>
              <a:rPr lang="pt-BR" altLang="zh-CN" b="1" dirty="0"/>
              <a:t>NOT R1, R1</a:t>
            </a:r>
            <a:r>
              <a:rPr lang="zh-CN" altLang="en-US" b="1" dirty="0"/>
              <a:t>  （</a:t>
            </a:r>
            <a:r>
              <a:rPr lang="en-US" altLang="zh-CN" dirty="0"/>
              <a:t>R1 = xD000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pt-BR" altLang="zh-CN" b="1" dirty="0"/>
              <a:t>x3006 </a:t>
            </a:r>
            <a:r>
              <a:rPr lang="zh-CN" altLang="en-US" b="1" dirty="0"/>
              <a:t>   </a:t>
            </a:r>
            <a:r>
              <a:rPr lang="pt-BR" altLang="zh-CN" b="1" dirty="0"/>
              <a:t>LD R0, #2</a:t>
            </a:r>
            <a:r>
              <a:rPr lang="zh-CN" altLang="en-US" b="1" dirty="0"/>
              <a:t>  （</a:t>
            </a:r>
            <a:r>
              <a:rPr lang="en-US" altLang="zh-CN" dirty="0"/>
              <a:t>R0 = 【x3009】</a:t>
            </a:r>
            <a:r>
              <a:rPr lang="zh-CN" altLang="en-US" b="1" dirty="0"/>
              <a:t>）</a:t>
            </a:r>
            <a:endParaRPr lang="zh-CN" altLang="pt-BR" b="1" dirty="0"/>
          </a:p>
          <a:p>
            <a:endParaRPr lang="en-US" altLang="zh-CN" b="1" dirty="0"/>
          </a:p>
          <a:p>
            <a:endParaRPr lang="zh-CN" altLang="pt-BR" b="1" dirty="0"/>
          </a:p>
          <a:p>
            <a:endParaRPr lang="zh-CN" altLang="pt-BR" b="1" dirty="0">
              <a:solidFill>
                <a:srgbClr val="FF0000"/>
              </a:solidFill>
            </a:endParaRPr>
          </a:p>
          <a:p>
            <a:endParaRPr lang="zh-CN" altLang="pt-BR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684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58848EAD-B288-5E61-7A71-B21F70F07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994" y="584206"/>
            <a:ext cx="8091625" cy="2321553"/>
          </a:xfr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1DD9C13-0800-8CB0-59F3-27BF945C5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31" y="2905759"/>
            <a:ext cx="6728754" cy="369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9784AB64-6B2A-5ABA-AD95-E2A99D6D5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95" y="263511"/>
            <a:ext cx="7519749" cy="37159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7443EFB-6712-97A5-10F4-458475954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243" y="3926994"/>
            <a:ext cx="6532400" cy="266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38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4E3B1925-FDB3-DDFC-8B06-D228A21DF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4" y="255643"/>
            <a:ext cx="7207620" cy="62296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387ACBE-37B7-AD65-198D-51327AE7C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946" y="4547904"/>
            <a:ext cx="10003887" cy="162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81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AADCFDB2-79A4-823F-3E31-5C958DAD2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117" y="470000"/>
            <a:ext cx="7949460" cy="5031029"/>
          </a:xfrm>
        </p:spPr>
      </p:pic>
    </p:spTree>
    <p:extLst>
      <p:ext uri="{BB962C8B-B14F-4D97-AF65-F5344CB8AC3E}">
        <p14:creationId xmlns:p14="http://schemas.microsoft.com/office/powerpoint/2010/main" val="3704733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C3F84C9-8B67-A722-DAD0-284CE311C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508" y="665683"/>
            <a:ext cx="7912309" cy="5328400"/>
          </a:xfrm>
        </p:spPr>
      </p:pic>
    </p:spTree>
    <p:extLst>
      <p:ext uri="{BB962C8B-B14F-4D97-AF65-F5344CB8AC3E}">
        <p14:creationId xmlns:p14="http://schemas.microsoft.com/office/powerpoint/2010/main" val="113201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396</Words>
  <Application>Microsoft Office PowerPoint</Application>
  <PresentationFormat>宽屏</PresentationFormat>
  <Paragraphs>29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第二次习题课（hw4）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Spike Yin</dc:creator>
  <cp:lastModifiedBy>Spike Yin</cp:lastModifiedBy>
  <cp:revision>7</cp:revision>
  <dcterms:created xsi:type="dcterms:W3CDTF">2025-10-30T09:59:56Z</dcterms:created>
  <dcterms:modified xsi:type="dcterms:W3CDTF">2025-12-28T09:27:51Z</dcterms:modified>
</cp:coreProperties>
</file>