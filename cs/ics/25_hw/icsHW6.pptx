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3.png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4.png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5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6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9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10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11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12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HW6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12.30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T1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PUSH A, PUSH B, POP, PUSH C, PUSH D, POP, PUSH E,  POP, POP, PUSH F</a:t>
            </a:r>
            <a:endParaRPr lang="en-US" altLang="zh-CN"/>
          </a:p>
          <a:p>
            <a:r>
              <a:rPr lang="en-US" altLang="zh-CN"/>
              <a:t>(a) What does the stack contain after the PUSH F?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A	     AB          A	     AC	        ACD	AC    ACE	AC     A      AF</a:t>
            </a:r>
            <a:endParaRPr lang="en-US" altLang="zh-CN"/>
          </a:p>
          <a:p>
            <a:r>
              <a:rPr lang="en-US" altLang="zh-CN"/>
              <a:t>(b) At which point does the stack contain the most elements?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PUSH D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PUSH E</a:t>
            </a:r>
            <a:endParaRPr lang="en-US" altLang="zh-CN">
              <a:sym typeface="+mn-ea"/>
            </a:endParaRPr>
          </a:p>
          <a:p>
            <a:r>
              <a:rPr lang="en-US" altLang="zh-CN"/>
              <a:t>(c)As for queue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A            AB          B      BC          BCD        CD    CDE       DE     E      EF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T2</a:t>
            </a:r>
            <a:endParaRPr lang="en-US" altLang="zh-CN"/>
          </a:p>
        </p:txBody>
      </p:sp>
      <p:sp>
        <p:nvSpPr>
          <p:cNvPr id="5" name="内容占位符 4"/>
          <p:cNvSpPr/>
          <p:nvPr>
            <p:ph idx="1"/>
            <p:custDataLst>
              <p:tags r:id="rId2"/>
            </p:custDataLst>
          </p:nvPr>
        </p:nvSpPr>
        <p:spPr>
          <a:xfrm>
            <a:off x="704215" y="3333750"/>
            <a:ext cx="10968990" cy="1143000"/>
          </a:xfrm>
        </p:spPr>
        <p:txBody>
          <a:bodyPr/>
          <a:p>
            <a:r>
              <a:rPr lang="en-US" altLang="zh-CN"/>
              <a:t>RET:JMP R7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498600"/>
            <a:ext cx="10165080" cy="1762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705" y="4073525"/>
            <a:ext cx="6898005" cy="24072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T2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735" y="0"/>
            <a:ext cx="601853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T2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" y="2583815"/>
            <a:ext cx="11144885" cy="1802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zh-CN"/>
              <a:t>(a) What problem could occur if a program does not check the ready bit of the KBSR before reading the KBDR?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程序可能反复读取同一个字符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en-US" altLang="zh-CN"/>
              <a:t>(b) What problem is likely to occur if the keyborad hardware does not check the KBSR before writing to the KBDR?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KBDR </a:t>
            </a:r>
            <a:r>
              <a:rPr lang="zh-CN" altLang="en-US"/>
              <a:t>存的数据可能还没有被读取，用户输入字符可能丢失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en-US" altLang="zh-CN"/>
              <a:t> What problem could occur if the display hardware does not check the DSR before writing to the DDR?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display hardware </a:t>
            </a:r>
            <a:r>
              <a:rPr lang="zh-CN" altLang="en-US"/>
              <a:t>并不会写入</a:t>
            </a:r>
            <a:r>
              <a:rPr lang="en-US" altLang="zh-CN"/>
              <a:t> DDR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what about </a:t>
            </a:r>
            <a:r>
              <a:rPr lang="en-US" altLang="zh-CN">
                <a:sym typeface="+mn-ea"/>
              </a:rPr>
              <a:t>a program does not check the DSR before writing to the DDR?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T4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74800" y="337820"/>
            <a:ext cx="7633335" cy="5998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13240" y="608330"/>
            <a:ext cx="2246630" cy="4279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统计</a:t>
            </a:r>
            <a:r>
              <a:rPr lang="en-US" altLang="zh-CN"/>
              <a:t> x4000 </a:t>
            </a:r>
            <a:r>
              <a:rPr lang="zh-CN" altLang="en-US"/>
              <a:t>开始的十个数据中首位为</a:t>
            </a:r>
            <a:r>
              <a:rPr lang="en-US" altLang="zh-CN"/>
              <a:t>1</a:t>
            </a:r>
            <a:r>
              <a:rPr lang="zh-CN" altLang="en-US"/>
              <a:t>（负数）的个数，存在地址</a:t>
            </a:r>
            <a:r>
              <a:rPr lang="en-US" altLang="zh-CN"/>
              <a:t> x5000 </a:t>
            </a:r>
            <a:r>
              <a:rPr lang="zh-CN" altLang="en-US"/>
              <a:t>处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主要看</a:t>
            </a:r>
            <a:r>
              <a:rPr lang="en-US" altLang="zh-CN"/>
              <a:t>MASK </a:t>
            </a:r>
            <a:r>
              <a:rPr lang="en-US" altLang="zh-CN"/>
              <a:t>x8000</a:t>
            </a:r>
            <a:endParaRPr lang="en-US" altLang="zh-CN"/>
          </a:p>
          <a:p>
            <a:r>
              <a:rPr lang="zh-CN" altLang="en-US"/>
              <a:t>和</a:t>
            </a:r>
            <a:r>
              <a:rPr lang="en-US" altLang="zh-CN"/>
              <a:t>AND </a:t>
            </a:r>
            <a:r>
              <a:rPr lang="zh-CN" altLang="en-US"/>
              <a:t>操作。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T5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24025" y="412115"/>
            <a:ext cx="6290310" cy="60337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28000" y="411480"/>
            <a:ext cx="3841115" cy="6035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(a)</a:t>
            </a:r>
            <a:r>
              <a:rPr lang="zh-CN" altLang="en-US"/>
              <a:t>参考</a:t>
            </a:r>
            <a:r>
              <a:rPr lang="en-US" altLang="zh-CN"/>
              <a:t>POP</a:t>
            </a:r>
            <a:r>
              <a:rPr lang="zh-CN" altLang="en-US"/>
              <a:t>：</a:t>
            </a:r>
            <a:r>
              <a:rPr lang="en-US" altLang="zh-CN"/>
              <a:t>LDR</a:t>
            </a:r>
            <a:r>
              <a:rPr lang="zh-CN" altLang="en-US"/>
              <a:t>换</a:t>
            </a:r>
            <a:r>
              <a:rPr lang="en-US" altLang="zh-CN"/>
              <a:t>STR</a:t>
            </a:r>
            <a:r>
              <a:rPr lang="zh-CN" altLang="en-US"/>
              <a:t>，</a:t>
            </a:r>
            <a:r>
              <a:rPr lang="en-US" altLang="zh-CN"/>
              <a:t>+2</a:t>
            </a:r>
            <a:r>
              <a:rPr lang="zh-CN" altLang="en-US"/>
              <a:t>换</a:t>
            </a:r>
            <a:r>
              <a:rPr lang="en-US" altLang="zh-CN"/>
              <a:t>-2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ADD R6, R6, #-2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     STR R0, R6, #0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(b)</a:t>
            </a:r>
            <a:r>
              <a:rPr lang="zh-CN" altLang="en-US"/>
              <a:t>先入后出反向输出字符串：</a:t>
            </a:r>
            <a:r>
              <a:rPr lang="en-US" altLang="zh-CN"/>
              <a:t>JSR POP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R1 </a:t>
            </a:r>
            <a:r>
              <a:rPr lang="zh-CN" altLang="en-US"/>
              <a:t>寄存的作用是记录输入字符串的长度，便于后续逆序输出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T6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055" y="1713230"/>
            <a:ext cx="6562725" cy="3962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65" y="805180"/>
            <a:ext cx="5231130" cy="53600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T6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59280" y="356870"/>
            <a:ext cx="8467090" cy="61448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T7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15135" y="119380"/>
            <a:ext cx="9329420" cy="60090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16685" y="6245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(a)3*1 + (16+1)+7*16=132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T7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56080" y="0"/>
            <a:ext cx="5450205" cy="6734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88250" y="21393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b</a:t>
            </a:r>
            <a:r>
              <a:rPr lang="zh-CN" altLang="en-US"/>
              <a:t>）计算指令的周期：数框框，内存访问（</a:t>
            </a:r>
            <a:r>
              <a:rPr lang="en-US" altLang="zh-CN"/>
              <a:t>R</a:t>
            </a:r>
            <a:r>
              <a:rPr lang="zh-CN" altLang="en-US"/>
              <a:t>）</a:t>
            </a:r>
            <a:r>
              <a:rPr lang="en-US" altLang="zh-CN"/>
              <a:t>*10</a:t>
            </a:r>
            <a:r>
              <a:rPr lang="zh-CN" altLang="en-US"/>
              <a:t>，否则</a:t>
            </a:r>
            <a:r>
              <a:rPr lang="en-US" altLang="zh-CN"/>
              <a:t>*1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T7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20900" y="1313815"/>
            <a:ext cx="9394825" cy="49174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WPS 演示</Application>
  <PresentationFormat>宽屏</PresentationFormat>
  <Paragraphs>69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189</cp:revision>
  <dcterms:created xsi:type="dcterms:W3CDTF">2019-06-19T02:08:00Z</dcterms:created>
  <dcterms:modified xsi:type="dcterms:W3CDTF">2025-12-29T12:48:36Z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8EB3F538673047B09C1C315C79EBE848_11</vt:lpwstr>
  </property>
</Properties>
</file>